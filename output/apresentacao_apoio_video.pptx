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86868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4F8A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04F8A"/>
                </a:solidFill>
              </a:defRPr>
            </a:pPr>
            <a:r>
              <a:t>Recomendação de Investimento — Short Stay</a:t>
            </a:r>
          </a:p>
          <a:p>
            <a:pPr>
              <a:spcAft>
                <a:spcPts val="800"/>
              </a:spcAft>
              <a:defRPr sz="3200" b="1">
                <a:solidFill>
                  <a:srgbClr val="104F8A"/>
                </a:solidFill>
              </a:defRPr>
            </a:pPr>
            <a:r>
              <a:t>Itapema/SC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55555"/>
                </a:solidFill>
              </a:defRPr>
            </a:pPr>
            <a:r>
              <a:t>Para a Seazone · Análise apoiada em IA (Fases 0–7 + ai-log)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55555"/>
                </a:solidFill>
              </a:defRPr>
            </a:pPr>
            <a:r>
              <a:t>Vídeo: 3 min · Estrutura: recomendaão → racional → processo → próximos passos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86868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4F8A"/>
                </a:solidFill>
              </a:defRPr>
            </a:pPr>
            <a:r>
              <a:t>1 · O que fazer — em 2 frases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resultado primeiro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04F8A"/>
                </a:solidFill>
              </a:defRPr>
            </a:pPr>
            <a:r>
              <a:t>COMPRAR: apartamentos compactos de 1 quarto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E7E34"/>
                </a:solidFill>
              </a:defRPr>
            </a:pPr>
            <a:r>
              <a:t>Localização: Morretes e Meia Praia — NÃO o Centro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22222"/>
                </a:solidFill>
              </a:defRPr>
            </a:pPr>
            <a:r>
              <a:t>•  Execução: 60% originação/lançamento + 40% pronto (piloto)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22222"/>
                </a:solidFill>
              </a:defRPr>
            </a:pPr>
            <a:r>
              <a:t>•  Morretes, 55m² construído: yield 2,25% (conservador) → 7,1% (otimista, occ 53%)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55555"/>
                </a:solidFill>
              </a:defRPr>
            </a:pPr>
            <a:r>
              <a:t>Seazone · Itapema/SC · Jovens Talentos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86868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4F8A"/>
                </a:solidFill>
              </a:defRPr>
            </a:pPr>
            <a:r>
              <a:t>2 · O critério: o que é “melhor”?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racional da decisão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04F8A"/>
                </a:solidFill>
              </a:defRPr>
            </a:pPr>
            <a:r>
              <a:t>'Melhor' = maior YIELD LÍQUIDO anual (NOI ÷ investimento total)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22222"/>
                </a:solidFill>
              </a:defRPr>
            </a:pPr>
            <a:r>
              <a:t>•  Não é a maior receita bruta — é eficiência de capital no longo prazo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22222"/>
                </a:solidFill>
              </a:defRPr>
            </a:pPr>
            <a:r>
              <a:t>•  Três eixos de evidência (com números):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22222"/>
                </a:solidFill>
              </a:defRPr>
            </a:pPr>
            <a:r>
              <a:t>•  Perfil: +1 quarto (mesmos hóspedes) ⇒ receita −29% | +1 hóspede ⇒ +34% | reviews dobram ⇒ +39%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22222"/>
                </a:solidFill>
              </a:defRPr>
            </a:pPr>
            <a:r>
              <a:t>•  Localização: m² Morretes R$11.6k vs Centro R$16.8k (44% mais caro) — quem compra barato ganha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22222"/>
                </a:solidFill>
              </a:defRPr>
            </a:pPr>
            <a:r>
              <a:t>•  Operação: reserva instantânea ⇒ +105% receita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55555"/>
                </a:solidFill>
              </a:defRPr>
            </a:pPr>
            <a:r>
              <a:t>Seazone · Itapema/SC · Jovens Talentos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86868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4F8A"/>
                </a:solidFill>
              </a:defRPr>
            </a:pPr>
            <a:r>
              <a:t>Evidência 1 — Perfil compacto vence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Fase 3 + Fase 4</a:t>
            </a:r>
          </a:p>
        </p:txBody>
      </p:sp>
      <p:pic>
        <p:nvPicPr>
          <p:cNvPr id="5" name="Picture 4" descr="fase3_barra_quar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206240" cy="2163209"/>
          </a:xfrm>
          <a:prstGeom prst="rect">
            <a:avLst/>
          </a:prstGeom>
        </p:spPr>
      </p:pic>
      <p:pic>
        <p:nvPicPr>
          <p:cNvPr id="6" name="Picture 5" descr="fase4_coef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4023360" cy="25957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35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55555"/>
                </a:solidFill>
              </a:defRPr>
            </a:pPr>
            <a:r>
              <a:t>Receita cresce com quartos, mas custo/compra cresce mais — o yield é decidido pela eficiência de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55555"/>
                </a:solidFill>
              </a:defRPr>
            </a:pPr>
            <a:r>
              <a:t>Seazone · Itapema/SC · Jovens Talentos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86868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4F8A"/>
                </a:solidFill>
              </a:defRPr>
            </a:pPr>
            <a:r>
              <a:t>Evidência 2 — Onde o dinheiro rende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Fase 3</a:t>
            </a:r>
          </a:p>
        </p:txBody>
      </p:sp>
      <p:pic>
        <p:nvPicPr>
          <p:cNvPr id="5" name="Picture 4" descr="fase3_ranking_bair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754880" cy="2007616"/>
          </a:xfrm>
          <a:prstGeom prst="rect">
            <a:avLst/>
          </a:prstGeom>
        </p:spPr>
      </p:pic>
      <p:pic>
        <p:nvPicPr>
          <p:cNvPr id="6" name="Picture 5" descr="fase3_boxplot_bair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188720"/>
            <a:ext cx="3474720" cy="16215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35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55555"/>
                </a:solidFill>
              </a:defRPr>
            </a:pPr>
            <a:r>
              <a:t>Mediana de receita: Meia Praia R$3,1k/mês (n=632) · Centro R$2,3k (n=205) · Morretes R$2,1k (n=83) — mas m² muda o jogo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55555"/>
                </a:solidFill>
              </a:defRPr>
            </a:pPr>
            <a:r>
              <a:t>Seazone · Itapema/SC · Jovens Talentos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86868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4F8A"/>
                </a:solidFill>
              </a:defRPr>
            </a:pPr>
            <a:r>
              <a:t>3 · Veredito: tese dos compactos no Centro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posição clara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E7E34"/>
                </a:solidFill>
              </a:defRPr>
            </a:pPr>
            <a:r>
              <a:t>SUSTENTA PARCIALMENTE — com correção de bairro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•  ✔ Perfil compacto: supera imóveis maiores em yield em todos os cenários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•  ✗ Localização: o melhor bairro para compactos é Morretes (+3,4% otimista), não o Centro (+0,6%)</a:t>
            </a:r>
          </a:p>
        </p:txBody>
      </p:sp>
      <p:pic>
        <p:nvPicPr>
          <p:cNvPr id="8" name="Picture 7" descr="fase5_veredi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840"/>
            <a:ext cx="731520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55555"/>
                </a:solidFill>
              </a:defRPr>
            </a:pPr>
            <a:r>
              <a:t>A tese acertou no 'o quê', errou no 'onde'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55555"/>
                </a:solidFill>
              </a:defRPr>
            </a:pPr>
            <a:r>
              <a:t>Seazone · Itapema/SC · Jovens Talentos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86868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4F8A"/>
                </a:solidFill>
              </a:defRPr>
            </a:pPr>
            <a:r>
              <a:t>O que comprar e o retorno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Morretes · 1 quarto · 55m²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04F8A"/>
                </a:solidFill>
              </a:defRPr>
            </a:pPr>
            <a:r>
              <a:t>Unidade compacta 1q — execução híbrida 60/40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4F8A"/>
                </a:solidFill>
              </a:defRPr>
            </a:pPr>
            <a:r>
              <a:t>PRONTO (A)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•  Invest: R$727k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•  NOI: R$2,4k/ano (base)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•  Yield: 0,33% → 4,0% (otim)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•  occ 12% ⇒ negativo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7E34"/>
                </a:solidFill>
              </a:defRPr>
            </a:pPr>
            <a:r>
              <a:t>LANÇAMENTO (B)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•  Invest: R$648k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•  NOI: R$14,6k/ano (base)*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•  Yield: 2,25% → 7,1% (otim)*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•  occ 13% ⇒ negativo</a:t>
            </a:r>
          </a:p>
        </p:txBody>
      </p:sp>
      <p:pic>
        <p:nvPicPr>
          <p:cNvPr id="10" name="Picture 9" descr="fase6_cumulative_n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114800"/>
            <a:ext cx="548640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55555"/>
                </a:solidFill>
              </a:defRPr>
            </a:pPr>
            <a:r>
              <a:t>*Lançamento inclui prêmio de ativo novo (+8% diária, +10% occ) e produção 75% da revenda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55555"/>
                </a:solidFill>
              </a:defRPr>
            </a:pPr>
            <a:r>
              <a:t>Seazone · Itapema/SC · Jovens Talentos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86868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4F8A"/>
                </a:solidFill>
              </a:defRPr>
            </a:pPr>
            <a:r>
              <a:t>4 · Como usei IA (e onde a critiquei)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processo avaliado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•  IA em todas as fases · conversa inteira exportada em ai-log/ (170 mensagens)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•  Obstáculo real (bug de processo): 1ª régua comparava construir R$4,2k/m² com comprar R$16k/m² —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55555"/>
                </a:solidFill>
              </a:defRPr>
            </a:pPr>
            <a:r>
              <a:t>•    diferença de 4x inexistente no mercado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•  Como driblei: refiz a régua com produção ≈ 75% da revenda e re-testei a tese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•  Veredito honesto (contra o primeiro 'sustenta'): a tese acerta no perfil, erra no bairro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7E34"/>
                </a:solidFill>
              </a:defRPr>
            </a:pPr>
            <a:r>
              <a:t>•  Lição: IA acelera iteração; a decisão final passou pelo meu crivo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55555"/>
                </a:solidFill>
              </a:defRPr>
            </a:pPr>
            <a:r>
              <a:t>Seazone · Itapema/SC · Jovens Talentos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86868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4F8A"/>
                </a:solidFill>
              </a:defRPr>
            </a:pPr>
            <a:r>
              <a:t>O que faria com +1 semana</a:t>
            </a:r>
          </a:p>
          <a:p>
            <a:pPr>
              <a:defRPr sz="1300" i="1">
                <a:solidFill>
                  <a:srgbClr val="555555"/>
                </a:solidFill>
              </a:defRPr>
            </a:pPr>
            <a:r>
              <a:t>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•  1. Validar ocupação com calendário real (proxy captura = hoje)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•  2. Fechar orçamento de obra e VGV do lançamento (produção real)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•  3. Sazonalidade de alta temporada (jan/fev) para calibrar cenários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22222"/>
                </a:solidFill>
              </a:defRPr>
            </a:pPr>
            <a:r>
              <a:t>•  4. Amenidades que mais convertem, controlando o tamanho do imóvel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4F8A"/>
                </a:solidFill>
              </a:defRPr>
            </a:pPr>
            <a:r>
              <a:t>Núcleo inalterado: compacto, fora do Centro, com ocupação ≥30% via gestão de canal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55555"/>
                </a:solidFill>
              </a:defRPr>
            </a:pPr>
            <a:r>
              <a:t>•  Sem 30% de ocupação, nenhum caminho fecha.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55555"/>
                </a:solidFill>
              </a:defRPr>
            </a:pPr>
            <a:r>
              <a:t>Análise completa + processo: repo jt2026-caio-oliveira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55555"/>
                </a:solidFill>
              </a:defRPr>
            </a:pPr>
            <a:r>
              <a:t>Seazone · Itapema/SC · Jovens Talentos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